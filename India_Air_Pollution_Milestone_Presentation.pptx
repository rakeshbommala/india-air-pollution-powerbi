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2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52850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by explaining that this milestone is not simply a collection of charts; it is an environmental-risk intelligence workflow that moves from measurement and detection to evidence quality and action.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six-stage storyline. Emphasize that each dashboard answers a different decision question and feeds the next one, avoiding repetition.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establish the guardrails. The key milestone finding is that completeness differs sharply by pollutant, which later shapes the confidence and action story.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“We start with the national picture. The purpose is orientation, not diagnosis. This dashboard tells us what is happening before we narrow the field.”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“The hotspot dashboard narrows the problem spatially. The key output is a shortlist of locations and states that deserve deeper contextual analysis.”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“Dashboard 3 is the explain stage. We compare contexts and seasons and use the decomposition tree to drill from state to location and year. We deliberately avoid causal claims.”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“Dashboard 4 is where the time dimension becomes central. For the final version, the trend and state comparisons must use average concentration and the long-coverage pollutants.”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“This dashboard changes the question. Before action, we ask how strong the evidence is. SPM is the clearest example of why confidence has to be visible.”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 cue: “The final page does not pretend the dataset proves causality. It provides a disciplined route from hotspot to validation to targeted intervention and monitoring.”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message that the project is now coherent end-to-end. Remaining work is validation, external evidence, and final QA rather than a redesign of the narrative.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606540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INDIA AIR POLLUTION • MILESTONE REVIEW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10378440" y="6606540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SEP 2026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83A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183880" y="0"/>
            <a:ext cx="4005072" cy="6565392"/>
          </a:xfrm>
          <a:prstGeom prst="rect">
            <a:avLst/>
          </a:prstGeom>
          <a:solidFill>
            <a:srgbClr val="5D9F91">
              <a:alpha val="60000"/>
            </a:srgbClr>
          </a:solidFill>
          <a:ln w="12700">
            <a:solidFill>
              <a:srgbClr val="5D9F9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53312"/>
            <a:ext cx="6309360" cy="0"/>
          </a:xfrm>
          <a:prstGeom prst="line">
            <a:avLst/>
          </a:prstGeom>
          <a:noFill/>
          <a:ln w="38100">
            <a:solidFill>
              <a:srgbClr val="BFD8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6002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INDIA AIR POLLUTION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76656" y="2176272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BFD8D0"/>
                </a:solidFill>
              </a:rPr>
              <a:t>Milestone Presentation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94944" y="2889504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From pollution measurement to evidence-based intervention priorities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94944" y="3858768"/>
            <a:ext cx="3291840" cy="256032"/>
          </a:xfrm>
          <a:prstGeom prst="roundRect">
            <a:avLst>
              <a:gd name="adj" fmla="val 21429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3909060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POWER BI • ENVIRONMENTAL RISK INTELLIGENCE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" y="46451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10" dirty="0">
                <a:solidFill>
                  <a:srgbClr val="BFD8D0"/>
                </a:solidFill>
              </a:rPr>
              <a:t>Milestone 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4956048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Six-dashboard narrative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Detect → Assess → Explain → Track → Secure → Act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3232" y="59893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FD8D0"/>
                </a:solidFill>
              </a:rPr>
              <a:t>03 September 2026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1209FA-B713-422C-BC3C-C7AA2F6A1219}"/>
              </a:ext>
            </a:extLst>
          </p:cNvPr>
          <p:cNvSpPr txBox="1"/>
          <p:nvPr/>
        </p:nvSpPr>
        <p:spPr>
          <a:xfrm>
            <a:off x="5860472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6351C22-A3E3-4162-84A7-1C85B625C190}"/>
              </a:ext>
            </a:extLst>
          </p:cNvPr>
          <p:cNvSpPr txBox="1"/>
          <p:nvPr/>
        </p:nvSpPr>
        <p:spPr>
          <a:xfrm>
            <a:off x="8537171" y="4873752"/>
            <a:ext cx="26933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Team 3 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Rushikesh Shirwalkar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Ajay </a:t>
            </a: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Seepana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Rakesh </a:t>
            </a: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Bommala</a:t>
            </a:r>
            <a:endParaRPr lang="en-IN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project is designed as one decision story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Six dashboards • one continuous narrative from situational awareness to 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83464" y="1463041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9808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808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What is happening?</a:t>
            </a:r>
            <a:endParaRPr lang="en-US" sz="960" dirty="0"/>
          </a:p>
        </p:txBody>
      </p:sp>
      <p:sp>
        <p:nvSpPr>
          <p:cNvPr id="8" name="Text 6"/>
          <p:cNvSpPr/>
          <p:nvPr/>
        </p:nvSpPr>
        <p:spPr>
          <a:xfrm>
            <a:off x="749808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India Environmental Risk Overview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749808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SITUATIONAL AWARENESS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2267712" y="1964297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2532888" y="1463041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Where is the burden concentrated?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2743200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Pollution Risk Landscape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2743200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HOTSPOT DETECTION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4361688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53712" y="1472183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36592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36592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What context is associated with higher pollution?</a:t>
            </a:r>
            <a:endParaRPr lang="en-US" sz="960" dirty="0"/>
          </a:p>
        </p:txBody>
      </p:sp>
      <p:sp>
        <p:nvSpPr>
          <p:cNvPr id="20" name="Text 18"/>
          <p:cNvSpPr/>
          <p:nvPr/>
        </p:nvSpPr>
        <p:spPr>
          <a:xfrm>
            <a:off x="4736592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Industrial &amp; Urban Risk Profile</a:t>
            </a:r>
            <a:endParaRPr lang="en-US" sz="820" dirty="0"/>
          </a:p>
        </p:txBody>
      </p:sp>
      <p:sp>
        <p:nvSpPr>
          <p:cNvPr id="21" name="Text 19"/>
          <p:cNvSpPr/>
          <p:nvPr/>
        </p:nvSpPr>
        <p:spPr>
          <a:xfrm>
            <a:off x="4736592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RISK CONTEXT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6373368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56248" y="1481328"/>
            <a:ext cx="1792224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29984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729984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How is pollution changing?</a:t>
            </a:r>
            <a:endParaRPr lang="en-US" sz="960" dirty="0"/>
          </a:p>
        </p:txBody>
      </p:sp>
      <p:sp>
        <p:nvSpPr>
          <p:cNvPr id="26" name="Text 24"/>
          <p:cNvSpPr/>
          <p:nvPr/>
        </p:nvSpPr>
        <p:spPr>
          <a:xfrm>
            <a:off x="6729984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Historical Pollution Risk &amp; Escalation</a:t>
            </a:r>
            <a:endParaRPr lang="en-US" sz="820" dirty="0"/>
          </a:p>
        </p:txBody>
      </p:sp>
      <p:sp>
        <p:nvSpPr>
          <p:cNvPr id="27" name="Text 25"/>
          <p:cNvSpPr/>
          <p:nvPr/>
        </p:nvSpPr>
        <p:spPr>
          <a:xfrm>
            <a:off x="6729984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THREAT TRAJECTORY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8430768" y="1984248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613648" y="1481328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8723376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D9F91"/>
                </a:solidFill>
              </a:rPr>
              <a:t>05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723376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183A66"/>
                </a:solidFill>
              </a:rPr>
              <a:t>How strong is the evidence?</a:t>
            </a:r>
            <a:endParaRPr lang="en-US" sz="960" dirty="0"/>
          </a:p>
        </p:txBody>
      </p:sp>
      <p:sp>
        <p:nvSpPr>
          <p:cNvPr id="32" name="Text 30"/>
          <p:cNvSpPr/>
          <p:nvPr/>
        </p:nvSpPr>
        <p:spPr>
          <a:xfrm>
            <a:off x="8723376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25323A"/>
                </a:solidFill>
              </a:rPr>
              <a:t>Environmental Risk &amp; Decision Security</a:t>
            </a:r>
            <a:endParaRPr lang="en-US" sz="820" dirty="0"/>
          </a:p>
        </p:txBody>
      </p:sp>
      <p:sp>
        <p:nvSpPr>
          <p:cNvPr id="33" name="Text 31"/>
          <p:cNvSpPr/>
          <p:nvPr/>
        </p:nvSpPr>
        <p:spPr>
          <a:xfrm>
            <a:off x="8723376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65727A"/>
                </a:solidFill>
              </a:rPr>
              <a:t>CONFIDENCE / UNCERTAINTY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0306119" y="1966791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8B5B"/>
                </a:solidFill>
              </a:rPr>
              <a:t>→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0542202" y="1481328"/>
            <a:ext cx="1572768" cy="1234440"/>
          </a:xfrm>
          <a:prstGeom prst="roundRect">
            <a:avLst>
              <a:gd name="adj" fmla="val 5926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  <a:effectLst>
            <a:outerShdw blurRad="12700" dist="508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0716768" y="159105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FD8D0"/>
                </a:solidFill>
              </a:rPr>
              <a:t>06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651930" y="1938528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b="1" dirty="0">
                <a:solidFill>
                  <a:srgbClr val="FFFFFF"/>
                </a:solidFill>
              </a:rPr>
              <a:t>What realistic interventions should be considered?</a:t>
            </a:r>
            <a:endParaRPr lang="en-US" sz="960" dirty="0"/>
          </a:p>
        </p:txBody>
      </p:sp>
      <p:sp>
        <p:nvSpPr>
          <p:cNvPr id="38" name="Text 36"/>
          <p:cNvSpPr/>
          <p:nvPr/>
        </p:nvSpPr>
        <p:spPr>
          <a:xfrm>
            <a:off x="10668712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FFFFFF"/>
                </a:solidFill>
              </a:rPr>
              <a:t>Pollution Reduction Strategy &amp; Action Plan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716768" y="25420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b="1" kern="0" spc="80" dirty="0">
                <a:solidFill>
                  <a:srgbClr val="BFD8D0"/>
                </a:solidFill>
              </a:rPr>
              <a:t>DECISION &amp; ACTION</a:t>
            </a:r>
            <a:endParaRPr lang="en-US" sz="680" dirty="0"/>
          </a:p>
        </p:txBody>
      </p:sp>
      <p:sp>
        <p:nvSpPr>
          <p:cNvPr id="40" name="Shape 38"/>
          <p:cNvSpPr/>
          <p:nvPr/>
        </p:nvSpPr>
        <p:spPr>
          <a:xfrm>
            <a:off x="658368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8368" y="3127248"/>
            <a:ext cx="73152" cy="1993392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22960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DETECT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22960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Establish the national situation and identify where the burden is concentrated.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1–2 convert a large monitoring dataset into a focused risk landscape.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325112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25112" y="3127248"/>
            <a:ext cx="73152" cy="1993392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89704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EXPLAIN + TRACK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489704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Use area type, state, season and long-term trends to explain differences and track escalation.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3–4 provide context and trajectory.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7991856" y="3127248"/>
            <a:ext cx="3547872" cy="1993392"/>
          </a:xfrm>
          <a:prstGeom prst="roundRect">
            <a:avLst>
              <a:gd name="adj" fmla="val 275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991856" y="3127248"/>
            <a:ext cx="73152" cy="199339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156448" y="325526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SECURE + ACT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8156448" y="3511296"/>
            <a:ext cx="3291840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Make uncertainty visible before turning evidence into candidate interventions and decision priorities.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Dashboards 5–6 protect decision quality.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694944" y="54315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10" dirty="0">
                <a:solidFill>
                  <a:srgbClr val="5D9F91"/>
                </a:solidFill>
              </a:rPr>
              <a:t>Narrative spine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1856232" y="54041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83A66"/>
                </a:solidFill>
              </a:rPr>
              <a:t>What → Where → Context → Change → Confidence → Action</a:t>
            </a:r>
            <a:endParaRPr lang="en-US" sz="1500" dirty="0"/>
          </a:p>
        </p:txBody>
      </p:sp>
      <p:sp>
        <p:nvSpPr>
          <p:cNvPr id="5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foundation and analytical guardrails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The milestone is built on a cleaned monitoring dataset and a deliberately conservative analytical framework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17320"/>
            <a:ext cx="64008" cy="1115568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RECORDS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0467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432K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88036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880360" y="1417320"/>
            <a:ext cx="64008" cy="1115568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04495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LOCATIONS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04495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301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12064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120640" y="1417320"/>
            <a:ext cx="64008" cy="1115568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8523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STATES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28523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34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7360920" y="1417320"/>
            <a:ext cx="205740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60920" y="1417320"/>
            <a:ext cx="64008" cy="1115568"/>
          </a:xfrm>
          <a:prstGeom prst="rect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25512" y="1563624"/>
            <a:ext cx="1783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COVERAGE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7525512" y="1801368"/>
            <a:ext cx="17647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1987–2015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601200" y="1417320"/>
            <a:ext cx="1920240" cy="1115568"/>
          </a:xfrm>
          <a:prstGeom prst="roundRect">
            <a:avLst>
              <a:gd name="adj" fmla="val 6557"/>
            </a:avLst>
          </a:prstGeom>
          <a:solidFill>
            <a:srgbClr val="FFFFFF"/>
          </a:solidFill>
          <a:ln w="10160">
            <a:solidFill>
              <a:srgbClr val="D7D6CE"/>
            </a:solidFill>
            <a:prstDash val="solid"/>
          </a:ln>
          <a:effectLst>
            <a:outerShdw blurRad="12700" dist="508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601200" y="1417320"/>
            <a:ext cx="64008" cy="1115568"/>
          </a:xfrm>
          <a:prstGeom prst="rect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65792" y="1563624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kern="0" spc="60" dirty="0">
                <a:solidFill>
                  <a:srgbClr val="65727A"/>
                </a:solidFill>
              </a:rPr>
              <a:t>OVERALL COMPLETENESS</a:t>
            </a:r>
            <a:endParaRPr lang="en-US" sz="820" dirty="0"/>
          </a:p>
        </p:txBody>
      </p:sp>
      <p:sp>
        <p:nvSpPr>
          <p:cNvPr id="24" name="Text 22"/>
          <p:cNvSpPr/>
          <p:nvPr/>
        </p:nvSpPr>
        <p:spPr>
          <a:xfrm>
            <a:off x="9765792" y="1801368"/>
            <a:ext cx="16276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25323A"/>
                </a:solidFill>
              </a:rPr>
              <a:t>86.1%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58368" y="2907792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CORE ANALYTICAL RULES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13232" y="331012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324612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SO₂, NO₂, RSPM and SPM form the main long-coverage pollutant story.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13232" y="381304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374904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PM2.5 is treated as a limited-coverage supporting indicator, not the historical backbone.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13232" y="431596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425196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Average concentration is used for pollutant intensity; concentrations are never summed.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713232" y="481888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8680" y="475488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Unknown values are retained when they cannot be reliably inferred.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13232" y="5321808"/>
            <a:ext cx="82296" cy="82296"/>
          </a:xfrm>
          <a:prstGeom prst="ellipse">
            <a:avLst/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68680" y="5257800"/>
            <a:ext cx="5166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25323A"/>
                </a:solidFill>
              </a:rPr>
              <a:t>stn_code is not used for station metrics until explicitly validated.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00800" y="290779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CURRENT EVIDENCE SIGNAL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419088" y="3200400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NO₂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14032" y="3218688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14032" y="3218688"/>
            <a:ext cx="3108338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369296" y="3200400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99.98%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10972800" y="322783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42" name="Text 40"/>
          <p:cNvSpPr/>
          <p:nvPr/>
        </p:nvSpPr>
        <p:spPr>
          <a:xfrm>
            <a:off x="6419088" y="3767328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SO₂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114032" y="3785616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14032" y="3785616"/>
            <a:ext cx="3108338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369296" y="3767328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99.98%</a:t>
            </a:r>
            <a:endParaRPr lang="en-US" sz="920" dirty="0"/>
          </a:p>
        </p:txBody>
      </p:sp>
      <p:sp>
        <p:nvSpPr>
          <p:cNvPr id="46" name="Text 44"/>
          <p:cNvSpPr/>
          <p:nvPr/>
        </p:nvSpPr>
        <p:spPr>
          <a:xfrm>
            <a:off x="10972800" y="379476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47" name="Text 45"/>
          <p:cNvSpPr/>
          <p:nvPr/>
        </p:nvSpPr>
        <p:spPr>
          <a:xfrm>
            <a:off x="6419088" y="4334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RSPM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114032" y="4352544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114032" y="4352544"/>
            <a:ext cx="3064813" cy="237744"/>
          </a:xfrm>
          <a:prstGeom prst="roundRect">
            <a:avLst>
              <a:gd name="adj" fmla="val 19231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369296" y="433425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98.58%</a:t>
            </a:r>
            <a:endParaRPr lang="en-US" sz="920" dirty="0"/>
          </a:p>
        </p:txBody>
      </p:sp>
      <p:sp>
        <p:nvSpPr>
          <p:cNvPr id="51" name="Text 49"/>
          <p:cNvSpPr/>
          <p:nvPr/>
        </p:nvSpPr>
        <p:spPr>
          <a:xfrm>
            <a:off x="10972800" y="4361688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5D9F91"/>
                </a:solidFill>
              </a:rPr>
              <a:t>STRONG</a:t>
            </a:r>
            <a:endParaRPr lang="en-US" sz="690" dirty="0"/>
          </a:p>
        </p:txBody>
      </p:sp>
      <p:sp>
        <p:nvSpPr>
          <p:cNvPr id="52" name="Text 50"/>
          <p:cNvSpPr/>
          <p:nvPr/>
        </p:nvSpPr>
        <p:spPr>
          <a:xfrm>
            <a:off x="6419088" y="4901184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SPM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114032" y="4919472"/>
            <a:ext cx="3108960" cy="237744"/>
          </a:xfrm>
          <a:prstGeom prst="roundRect">
            <a:avLst>
              <a:gd name="adj" fmla="val 19231"/>
            </a:avLst>
          </a:prstGeom>
          <a:solidFill>
            <a:srgbClr val="DCE5D7"/>
          </a:solidFill>
          <a:ln w="12700">
            <a:solidFill>
              <a:srgbClr val="DCE5D7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114032" y="4919472"/>
            <a:ext cx="1424836" cy="237744"/>
          </a:xfrm>
          <a:prstGeom prst="roundRect">
            <a:avLst>
              <a:gd name="adj" fmla="val 19231"/>
            </a:avLst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69296" y="4901184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20" b="1" dirty="0">
                <a:solidFill>
                  <a:srgbClr val="25323A"/>
                </a:solidFill>
              </a:rPr>
              <a:t>45.83%</a:t>
            </a:r>
            <a:endParaRPr lang="en-US" sz="920" dirty="0"/>
          </a:p>
        </p:txBody>
      </p:sp>
      <p:sp>
        <p:nvSpPr>
          <p:cNvPr id="56" name="Text 54"/>
          <p:cNvSpPr/>
          <p:nvPr/>
        </p:nvSpPr>
        <p:spPr>
          <a:xfrm>
            <a:off x="10972800" y="49286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90" b="1" dirty="0">
                <a:solidFill>
                  <a:srgbClr val="C79A4A"/>
                </a:solidFill>
              </a:rPr>
              <a:t>LIMITED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6400800" y="5440680"/>
            <a:ext cx="5074920" cy="713232"/>
          </a:xfrm>
          <a:prstGeom prst="roundRect">
            <a:avLst>
              <a:gd name="adj" fmla="val 7692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400800" y="5440680"/>
            <a:ext cx="73152" cy="71323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65392" y="5568696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WHY THIS MATTERS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565392" y="5824728"/>
            <a:ext cx="4818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Strong evidence for SO₂, NO₂ and RSPM supports interpretation; substantially lower SPM completeness increases decision caution.</a:t>
            </a:r>
            <a:endParaRPr lang="en-US" sz="950" dirty="0"/>
          </a:p>
        </p:txBody>
      </p:sp>
      <p:sp>
        <p:nvSpPr>
          <p:cNvPr id="6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• India Environmental Risk Overview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Situational awareness: establish the national pollution picture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7498080" cy="4873752"/>
          </a:xfrm>
          <a:prstGeom prst="roundRect">
            <a:avLst>
              <a:gd name="adj" fmla="val 1126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9-03 18542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1684109"/>
            <a:ext cx="7388352" cy="41572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47888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THIS DASHBOARD ESTABLISHES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47888" y="180136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03336" y="173736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National monitoring scale: ~432K records, 301 locations, 34 states.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47888" y="257860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03336" y="251460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High-level pollutant and seasonal views create a national starting point.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47888" y="335584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403336" y="3291840"/>
            <a:ext cx="3246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Interactive year, state and season filters support situational exploration.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47888" y="4160520"/>
            <a:ext cx="3337560" cy="1325880"/>
          </a:xfrm>
          <a:prstGeom prst="roundRect">
            <a:avLst>
              <a:gd name="adj" fmla="val 4138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47888" y="4160520"/>
            <a:ext cx="73152" cy="1325880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0" y="4288536"/>
            <a:ext cx="30815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MILESTONE MESSAGE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412480" y="4544568"/>
            <a:ext cx="30815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We begin broad: before asking where to act, establish the scale and shape of the pollution problem.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47888" y="5696712"/>
            <a:ext cx="2331720" cy="256032"/>
          </a:xfrm>
          <a:prstGeom prst="roundRect">
            <a:avLst>
              <a:gd name="adj" fmla="val 21429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47888" y="574700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SITUATIONAL AWARENESS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• Pollution Risk Landscape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Hotspot detection: move from national picture to geographic concentration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f272a522-b461-44d6-9bc6-e691856fba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6710"/>
            <a:ext cx="7434072" cy="41795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7160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HOW THE STORY MOVES FORWARD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The map shifts the question from “what?” to “where?”.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State-level ranking highlights where observation burden is concentrated.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383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Location-level ranking provides the bridge to contextual analysis.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29600" y="411480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114800"/>
            <a:ext cx="73152" cy="1417320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24281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NEXT QUESTION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98848"/>
            <a:ext cx="31272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Once hotspots are identified, Dashboard 3 asks what context is associated with higher pollution.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687568"/>
            <a:ext cx="2011680" cy="256032"/>
          </a:xfrm>
          <a:prstGeom prst="roundRect">
            <a:avLst>
              <a:gd name="adj" fmla="val 21429"/>
            </a:avLst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3786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HOTSPOT DETECTION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• Industrial &amp; Urban Risk Profile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Context: explain why pollution patterns differ across area type, geography and season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CORE VISUAL LOGIC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828800"/>
            <a:ext cx="100584" cy="640080"/>
          </a:xfrm>
          <a:prstGeom prst="rect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94767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AREA TYPE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938528" y="1938528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Industrial • Residential • Sensitive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80944" y="2441448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13232" y="2688336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3232" y="2688336"/>
            <a:ext cx="100584" cy="640080"/>
          </a:xfrm>
          <a:prstGeom prst="rect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2807208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STATE × TYPE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1938528" y="2798064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Where combinations stand out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80944" y="3300984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" y="3547872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13232" y="3547872"/>
            <a:ext cx="100584" cy="640080"/>
          </a:xfrm>
          <a:prstGeom prst="rect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3666744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SEASON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38528" y="3657600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Winter • Summer • Monsoon • Post-Monsoon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80944" y="4160520"/>
            <a:ext cx="182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C8B5B"/>
                </a:solidFill>
              </a:rPr>
              <a:t>↓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3232" y="4407408"/>
            <a:ext cx="49377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1430">
            <a:solidFill>
              <a:srgbClr val="D7D6C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3232" y="4407408"/>
            <a:ext cx="100584" cy="640080"/>
          </a:xfrm>
          <a:prstGeom prst="rect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32688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60" dirty="0">
                <a:solidFill>
                  <a:srgbClr val="5D9F91"/>
                </a:solidFill>
              </a:rPr>
              <a:t>DRILL-DOWN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938528" y="4517136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183A66"/>
                </a:solidFill>
              </a:rPr>
              <a:t>State → Type → Season → Location → Year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80760" y="141732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THE DASHBOARD CONTRIBUTES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108192" y="1874520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63640" y="1810512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Area-type comparison answers “what context is associated with higher pollution?”.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6108192" y="2551176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63640" y="2487168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State × type heatmap identifies combinations that stand out.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108192" y="3227832"/>
            <a:ext cx="82296" cy="82296"/>
          </a:xfrm>
          <a:prstGeom prst="ellipse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163824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Seasonal profile exposes recurring contextual patterns.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6108192" y="3904488"/>
            <a:ext cx="82296" cy="82296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63640" y="3840480"/>
            <a:ext cx="5074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25323A"/>
                </a:solidFill>
              </a:rPr>
              <a:t>Decomposition Tree provides interactive drill-down rather than another simple ranking.</a:t>
            </a:r>
            <a:endParaRPr lang="en-US" sz="1080" dirty="0"/>
          </a:p>
        </p:txBody>
      </p:sp>
      <p:sp>
        <p:nvSpPr>
          <p:cNvPr id="34" name="Shape 32"/>
          <p:cNvSpPr/>
          <p:nvPr/>
        </p:nvSpPr>
        <p:spPr>
          <a:xfrm>
            <a:off x="6108192" y="4709160"/>
            <a:ext cx="5074920" cy="1033272"/>
          </a:xfrm>
          <a:prstGeom prst="roundRect">
            <a:avLst>
              <a:gd name="adj" fmla="val 5310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08192" y="4709160"/>
            <a:ext cx="73152" cy="1033272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72784" y="4837176"/>
            <a:ext cx="4818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PRESENTATION LINE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72784" y="5093208"/>
            <a:ext cx="4818888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“We are not claiming causation; we are identifying the contexts associated with higher pollution so later actions can be targeted responsibly.”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108192" y="5870448"/>
            <a:ext cx="141732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592074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RISK CONTEXT</a:t>
            </a:r>
            <a:endParaRPr lang="en-US" sz="75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 • Historical Pollution Risk &amp; Escalation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Trajectory: use long-term patterns to distinguish persistence from short-term variation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Screenshot 2026-09-03 18510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684119"/>
            <a:ext cx="7434072" cy="418470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WHAT THIS DASHBOARD IS MEANT TO ANSWER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How has the selected long-coverage pollutant changed over time?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Which states show stronger or more persistent trajectories?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337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25323A"/>
                </a:solidFill>
              </a:rPr>
              <a:t>Which seasons recur as high-intensity combinations?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229600" y="4096512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096512"/>
            <a:ext cx="73152" cy="1417320"/>
          </a:xfrm>
          <a:prstGeom prst="rect">
            <a:avLst/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224528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VALIDATION NOTE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80560"/>
            <a:ext cx="3127248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The current visual is a milestone draft. Historical trend measures and axes should be validated to ensure averages—not summed concentrations—drive the final story.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70585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B66A60"/>
          </a:solidFill>
          <a:ln w="12700">
            <a:solidFill>
              <a:srgbClr val="B66A6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5614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THREAT TRAJECTORY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 • Environmental Risk &amp; Decision Security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Confidence: make data coverage and uncertainty visible before recommending action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51565d44-7866-4a88-9c79-b1fd76f96af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07703"/>
            <a:ext cx="7434072" cy="413753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CURRENT EVIDENCE SIGNAL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29600" y="181965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385048" y="175564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Overall data completeness: 86.1%.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8229600" y="255117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385048" y="248716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NO₂ 99.98%, SO₂ 99.98%, RSPM 98.58% completeness.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8229600" y="3282696"/>
            <a:ext cx="82296" cy="82296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385048" y="3218688"/>
            <a:ext cx="3291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25323A"/>
                </a:solidFill>
              </a:rPr>
              <a:t>SPM 45.83% completeness → materially weaker evidence base.</a:t>
            </a:r>
            <a:endParaRPr lang="en-US" sz="1120" dirty="0"/>
          </a:p>
        </p:txBody>
      </p:sp>
      <p:sp>
        <p:nvSpPr>
          <p:cNvPr id="14" name="Shape 11"/>
          <p:cNvSpPr/>
          <p:nvPr/>
        </p:nvSpPr>
        <p:spPr>
          <a:xfrm>
            <a:off x="8229600" y="4041648"/>
            <a:ext cx="3383280" cy="1554480"/>
          </a:xfrm>
          <a:prstGeom prst="roundRect">
            <a:avLst>
              <a:gd name="adj" fmla="val 3529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229600" y="4041648"/>
            <a:ext cx="73152" cy="155448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94192" y="416966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DECISION SECURITY INSIGHT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394192" y="4425696"/>
            <a:ext cx="312724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High pollution with weaker data availability should trigger validation and caution—not a claim of physical-security threat.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8229600" y="5705856"/>
            <a:ext cx="196596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29600" y="5756148"/>
            <a:ext cx="1965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EVIDENCE CONFIDENCE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 • Pollution Reduction Strategy &amp; Action Plan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Action: convert hotspots, context and evidence quality into candidate interventions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5488" y="1325880"/>
            <a:ext cx="7543800" cy="4901184"/>
          </a:xfrm>
          <a:prstGeom prst="roundRect">
            <a:avLst>
              <a:gd name="adj" fmla="val 1119"/>
            </a:avLst>
          </a:prstGeom>
          <a:solidFill>
            <a:srgbClr val="FFFFFF"/>
          </a:solidFill>
          <a:ln w="12700">
            <a:solidFill>
              <a:srgbClr val="D7D6CE"/>
            </a:solidFill>
            <a:prstDash val="solid"/>
          </a:ln>
          <a:effectLst>
            <a:outerShdw blurRad="25400" dist="12700" dir="2700000" algn="bl" rotWithShape="0">
              <a:srgbClr val="000000">
                <a:alpha val="13000"/>
              </a:srgbClr>
            </a:outerShdw>
          </a:effectLst>
        </p:spPr>
      </p:sp>
      <p:pic>
        <p:nvPicPr>
          <p:cNvPr id="6" name="Image 0" descr="/mnt/data/e587f2bf-2247-4495-acae-dadf3bd1d83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712894"/>
            <a:ext cx="7434072" cy="41271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0" y="13533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ACTION FRAMEWORK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8247888" y="1737360"/>
            <a:ext cx="347472" cy="347472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47888" y="180594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732520" y="172821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PRIORITIZE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732520" y="1965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Focus attention on high-pollution hotspots.</a:t>
            </a:r>
            <a:endParaRPr lang="en-US" sz="890" dirty="0"/>
          </a:p>
        </p:txBody>
      </p:sp>
      <p:sp>
        <p:nvSpPr>
          <p:cNvPr id="12" name="Shape 9"/>
          <p:cNvSpPr/>
          <p:nvPr/>
        </p:nvSpPr>
        <p:spPr>
          <a:xfrm>
            <a:off x="8247888" y="2514600"/>
            <a:ext cx="347472" cy="347472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47888" y="258318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732520" y="250545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VALIDATE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8732520" y="27432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Check official action plans and source evidence.</a:t>
            </a:r>
            <a:endParaRPr lang="en-US" sz="890" dirty="0"/>
          </a:p>
        </p:txBody>
      </p:sp>
      <p:sp>
        <p:nvSpPr>
          <p:cNvPr id="16" name="Shape 13"/>
          <p:cNvSpPr/>
          <p:nvPr/>
        </p:nvSpPr>
        <p:spPr>
          <a:xfrm>
            <a:off x="8247888" y="3291840"/>
            <a:ext cx="347472" cy="347472"/>
          </a:xfrm>
          <a:prstGeom prst="ellipse">
            <a:avLst/>
          </a:prstGeom>
          <a:solidFill>
            <a:srgbClr val="274B7A"/>
          </a:solidFill>
          <a:ln w="12700">
            <a:solidFill>
              <a:srgbClr val="274B7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47888" y="336042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8732520" y="328269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TARGET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73252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Select interventions appropriate to local context.</a:t>
            </a:r>
            <a:endParaRPr lang="en-US" sz="890" dirty="0"/>
          </a:p>
        </p:txBody>
      </p:sp>
      <p:sp>
        <p:nvSpPr>
          <p:cNvPr id="20" name="Shape 17"/>
          <p:cNvSpPr/>
          <p:nvPr/>
        </p:nvSpPr>
        <p:spPr>
          <a:xfrm>
            <a:off x="8247888" y="4069080"/>
            <a:ext cx="347472" cy="347472"/>
          </a:xfrm>
          <a:prstGeom prst="ellipse">
            <a:avLst/>
          </a:prstGeom>
          <a:solidFill>
            <a:srgbClr val="C79A4A"/>
          </a:solidFill>
          <a:ln w="12700">
            <a:solidFill>
              <a:srgbClr val="C79A4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47888" y="413766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8732520" y="4059936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83A66"/>
                </a:solidFill>
              </a:rPr>
              <a:t>MONITOR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8732520" y="429768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25323A"/>
                </a:solidFill>
              </a:rPr>
              <a:t>Reassess pollution levels after intervention.</a:t>
            </a:r>
            <a:endParaRPr lang="en-US" sz="890" dirty="0"/>
          </a:p>
        </p:txBody>
      </p:sp>
      <p:sp>
        <p:nvSpPr>
          <p:cNvPr id="24" name="Shape 21"/>
          <p:cNvSpPr/>
          <p:nvPr/>
        </p:nvSpPr>
        <p:spPr>
          <a:xfrm>
            <a:off x="8229600" y="4983480"/>
            <a:ext cx="3429000" cy="1051560"/>
          </a:xfrm>
          <a:prstGeom prst="roundRect">
            <a:avLst>
              <a:gd name="adj" fmla="val 5217"/>
            </a:avLst>
          </a:prstGeom>
          <a:solidFill>
            <a:srgbClr val="EEF0EA"/>
          </a:solidFill>
          <a:ln w="10160">
            <a:solidFill>
              <a:srgbClr val="D7D6C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229600" y="4983480"/>
            <a:ext cx="73152" cy="1051560"/>
          </a:xfrm>
          <a:prstGeom prst="rect">
            <a:avLst/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394192" y="511149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83A66"/>
                </a:solidFill>
              </a:rPr>
              <a:t>GOVERNANCE RULE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394192" y="5367528"/>
            <a:ext cx="3172968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25323A"/>
                </a:solidFill>
              </a:rPr>
              <a:t>Ambient pollution data identifies candidate intervention areas; hotspot-specific actions should be grounded in official local action plans or source-apportionment evidence.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8229600" y="6016752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229600" y="6067044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DECISION &amp; ACTION</a:t>
            </a:r>
            <a:endParaRPr lang="en-US" sz="7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1155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83A6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Milestone position and next phase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1208" y="786384"/>
            <a:ext cx="10789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5727A"/>
                </a:solidFill>
              </a:rPr>
              <a:t>What is complete, what needs validation, and how the final story will be closed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21208" y="1097280"/>
            <a:ext cx="11018520" cy="0"/>
          </a:xfrm>
          <a:prstGeom prst="line">
            <a:avLst/>
          </a:prstGeom>
          <a:noFill/>
          <a:ln w="25400">
            <a:solidFill>
              <a:srgbClr val="5D9F9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4173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CURRENT MILESTONE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78308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Six-dashboard narrative established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31520" y="2340864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276856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Core Power BI structure built through Dashboard 6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731520" y="2834640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" y="2770632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Pollutant selector and core measures established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31520" y="3328416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3264408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Area-type standardization and season ordering addressed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731520" y="3822192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3758184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Dashboard 5 evidence-confidence layer built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731520" y="4315968"/>
            <a:ext cx="82296" cy="82296"/>
          </a:xfrm>
          <a:prstGeom prst="ellipse">
            <a:avLst/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4251960"/>
            <a:ext cx="5029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Dashboard 6 action framework drafted</a:t>
            </a:r>
            <a:endParaRPr lang="en-US" sz="1060" dirty="0"/>
          </a:p>
        </p:txBody>
      </p:sp>
      <p:sp>
        <p:nvSpPr>
          <p:cNvPr id="18" name="Text 16"/>
          <p:cNvSpPr/>
          <p:nvPr/>
        </p:nvSpPr>
        <p:spPr>
          <a:xfrm>
            <a:off x="6400800" y="141732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30" dirty="0">
                <a:solidFill>
                  <a:srgbClr val="5D9F91"/>
                </a:solidFill>
              </a:rPr>
              <a:t>FINALISATION PRIORITIES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446520" y="1847088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601968" y="1783080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Validate Dashboard 4 historical measures / axes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6446520" y="2432304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01968" y="2368296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Ensure Dashboard 2–4 outputs feed Dashboard 6 consistently</a:t>
            </a:r>
            <a:endParaRPr lang="en-US" sz="1060" dirty="0"/>
          </a:p>
        </p:txBody>
      </p:sp>
      <p:sp>
        <p:nvSpPr>
          <p:cNvPr id="23" name="Shape 21"/>
          <p:cNvSpPr/>
          <p:nvPr/>
        </p:nvSpPr>
        <p:spPr>
          <a:xfrm>
            <a:off x="6446520" y="3017520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2953512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Use official CPCB / CAQM / state or city evidence for named hotspots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446520" y="3602736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3538728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Replace any placeholder action logic with hotspot-specific evidence</a:t>
            </a:r>
            <a:endParaRPr lang="en-US" sz="1060" dirty="0"/>
          </a:p>
        </p:txBody>
      </p:sp>
      <p:sp>
        <p:nvSpPr>
          <p:cNvPr id="27" name="Shape 25"/>
          <p:cNvSpPr/>
          <p:nvPr/>
        </p:nvSpPr>
        <p:spPr>
          <a:xfrm>
            <a:off x="6446520" y="4187952"/>
            <a:ext cx="82296" cy="82296"/>
          </a:xfrm>
          <a:prstGeom prst="ellipse">
            <a:avLst/>
          </a:prstGeom>
          <a:solidFill>
            <a:srgbClr val="7C8B5B"/>
          </a:solidFill>
          <a:ln w="12700">
            <a:solidFill>
              <a:srgbClr val="7C8B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4123944"/>
            <a:ext cx="4754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5323A"/>
                </a:solidFill>
              </a:rPr>
              <a:t>Final filter / tooltip / interaction QA and presentation rehearsal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658368" y="5303520"/>
            <a:ext cx="10607040" cy="658368"/>
          </a:xfrm>
          <a:prstGeom prst="roundRect">
            <a:avLst>
              <a:gd name="adj" fmla="val 11111"/>
            </a:avLst>
          </a:prstGeom>
          <a:solidFill>
            <a:srgbClr val="183A66"/>
          </a:solidFill>
          <a:ln w="12700">
            <a:solidFill>
              <a:srgbClr val="183A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77824" y="5513832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kern="0" spc="110" dirty="0">
                <a:solidFill>
                  <a:srgbClr val="BFD8D0"/>
                </a:solidFill>
              </a:rPr>
              <a:t>FINAL STORY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2194560" y="5477256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What → Where → Context → Change → Confidence → Action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98280" y="5477256"/>
            <a:ext cx="1828800" cy="256032"/>
          </a:xfrm>
          <a:prstGeom prst="roundRect">
            <a:avLst>
              <a:gd name="adj" fmla="val 21429"/>
            </a:avLst>
          </a:prstGeom>
          <a:solidFill>
            <a:srgbClr val="5D9F91"/>
          </a:solidFill>
          <a:ln w="12700">
            <a:solidFill>
              <a:srgbClr val="5D9F9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98280" y="552754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kern="0" spc="50" dirty="0">
                <a:solidFill>
                  <a:srgbClr val="FFFFFF"/>
                </a:solidFill>
              </a:rPr>
              <a:t>MILESTONE READY FOR TEAM VALIDATION</a:t>
            </a:r>
            <a:endParaRPr lang="en-US" sz="75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4148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1359</Words>
  <Application>Microsoft Office PowerPoint</Application>
  <PresentationFormat>Widescreen</PresentationFormat>
  <Paragraphs>214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 Air Pollution — Milestone Presentation</dc:title>
  <dc:subject>India Air Pollution Power BI Milestone Presentation</dc:subject>
  <dc:creator>OpenAI</dc:creator>
  <cp:lastModifiedBy>Rushikesh Shirwalkar</cp:lastModifiedBy>
  <cp:revision>3</cp:revision>
  <dcterms:created xsi:type="dcterms:W3CDTF">2026-09-03T13:34:20Z</dcterms:created>
  <dcterms:modified xsi:type="dcterms:W3CDTF">2026-09-03T13:39:23Z</dcterms:modified>
</cp:coreProperties>
</file>
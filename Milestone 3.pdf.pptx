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2118-0120-40DC-91CE-4231CB1B0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C8EBC-12DA-4D83-B674-58922B53A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A00C3-386F-45EC-A935-F2C95E72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44763-7408-4B37-9302-91EF2CC2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6A880-ECFC-4996-9AEA-FCD7CA73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08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048E2-B2DF-4205-8067-F933D7A0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CBD49-F37D-472A-92B3-CFF646CC5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BD53-7759-461E-A5F7-5E5FA595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C818-906B-43DA-B811-E70503CA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4FB8-D018-45F6-A2A6-B347C33E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49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913F-82D8-4607-9439-E13B2956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5BB4-7E55-4FAE-8E04-081EBB331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C3CE-91C5-410E-ADF6-F7F67B60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52030-C1A0-4A81-A2EA-24C0FA04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313BA-61BF-4F14-A27B-BB8D8C13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3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889E-25F1-4909-82D2-100D6E5E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B79B1-902E-4F68-A8CC-7F76E8603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C292B-7938-46BF-A209-51DBF64BE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26E58-4FF0-4C81-A8FB-FEE6B074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3901A-B6E1-477C-8140-03FF7C60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3F4C6-FA2F-4BB6-B89E-62D95FD8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8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D5D7-4577-40A7-BF67-8E085527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4A75D-8057-4139-8EED-946BF7D98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32FFD-0FC5-4B49-914D-2A5610EAE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CE381-F60F-449C-A4D3-D6EDD4C74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0580F-7FC9-4CE3-9493-F1E77318D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4F5C3-5E5B-444B-A0DB-73315F4D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B2BCF-251A-4CD9-A0E0-002C7805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E9F2A5-3208-4AA0-8C85-A765426F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0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A48E-CBDD-4ED2-9401-D5C90A3C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CEA73-1D83-4966-843D-0C329B61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BF9B4-9645-4B6D-B696-4378CE05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C29C2-D5F9-428D-8F51-706D4FD2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6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E9C27-567C-46E1-844F-3B0FF74A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6B340-7764-499F-BD6E-1CA6242B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A373F-186B-471D-A4DB-D225446E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969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F703-21D7-4442-94F9-F7E8E69E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43A1B-FBC6-4956-9B17-582E165DD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5C41D-D3EF-4FB4-B6E3-5FD006856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92FA5-CD03-4038-89B0-B0B6DFE18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656D5-6777-46AF-A238-BC9A8841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6047F-61D9-4135-86B0-733782E2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10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8D7E-958A-406B-9E6E-C16E0555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1D883-32CA-40DB-AE9D-006FE00B9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A221A-5DE0-4353-B275-104A8262F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C3119-0A86-4E56-8DE0-E7B6A06D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76283-6FD1-450E-9CD3-E669D1CA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5A9CD-93BF-42C6-AD42-A3B84DCC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66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1521-A73E-4712-95E9-1ADC5491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F308A-2381-41E1-BA80-4CE2C9104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D71E2-F0D8-4530-823A-F6070DA9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5F92C-5264-476F-BF79-E061E444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2D5EA-6040-4DE0-BDF4-ABE1B281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87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7D61B-3CAD-4CF4-910B-4C1399554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F71A1-11E4-4602-94B5-CD0DF314C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7A03-73B2-4E87-9D64-FF58D096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F2940-B0F0-4E7A-9F99-074964C3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16C3F-9F9C-40FA-97A5-3D2A83A1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26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D54B0-544E-46C4-8B7B-28F21993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06B73-A580-453A-8E66-FB2F69F82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2B2A6-9D36-4CD0-A2D9-F1686A55C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EAEE0-5A26-4320-9FB6-B2CD12715E3B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670B1-EAB2-4C47-A2C8-861F84753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3F650-A662-4EB3-BEBA-8EA821475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29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F7074"/>
                </a:solidFill>
                <a:latin typeface="Aptos"/>
              </a:rPr>
              <a:t>AIR POLLUTION MONITORING &amp; 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2F4548"/>
                </a:solidFill>
                <a:latin typeface="Aptos"/>
              </a:rPr>
              <a:t>India Air Pollution
Intelligence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154680"/>
            <a:ext cx="2194560" cy="54864"/>
          </a:xfrm>
          <a:prstGeom prst="rect">
            <a:avLst/>
          </a:prstGeom>
          <a:solidFill>
            <a:srgbClr val="56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3456432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5B6260"/>
                </a:solidFill>
                <a:latin typeface="Aptos"/>
              </a:rPr>
              <a:t>A data-driven view of pollution hotspots, risk patterns,
monitoring performance and resource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8006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9651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6634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4919472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4548"/>
                </a:solidFill>
                <a:latin typeface="Aptos"/>
              </a:rPr>
              <a:t>Hotspot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8006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9651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6634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4919472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4548"/>
                </a:solidFill>
                <a:latin typeface="Aptos"/>
              </a:rPr>
              <a:t>Pollution Risk Surface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8006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9651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6634D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919472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4548"/>
                </a:solidFill>
                <a:latin typeface="Aptos"/>
              </a:rPr>
              <a:t>Incident Response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48006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8864" y="491947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dirty="0">
                <a:solidFill>
                  <a:srgbClr val="56634D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392" y="4919472"/>
            <a:ext cx="193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2F4548"/>
                </a:solidFill>
                <a:latin typeface="Aptos"/>
              </a:rPr>
              <a:t>Resource Deployment &amp;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B6260"/>
                </a:solidFill>
                <a:latin typeface="Aptos"/>
              </a:rPr>
              <a:t>Power BI Analytics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0419" y="5957869"/>
            <a:ext cx="16928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3</a:t>
            </a:r>
          </a:p>
          <a:p>
            <a:r>
              <a:rPr lang="en-US" sz="1200" b="0" dirty="0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Rushikesh Shirwalkar</a:t>
            </a:r>
          </a:p>
          <a:p>
            <a:r>
              <a:rPr lang="en-US" sz="1200" dirty="0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Ajay </a:t>
            </a:r>
            <a:r>
              <a:rPr lang="en-US" sz="1200" dirty="0" err="1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Seepana</a:t>
            </a:r>
            <a:endParaRPr lang="en-US" sz="1200" dirty="0">
              <a:solidFill>
                <a:srgbClr val="5B62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b="0" dirty="0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Rakesh </a:t>
            </a:r>
            <a:r>
              <a:rPr lang="en-US" sz="1200" b="0" dirty="0" err="1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Bomalla</a:t>
            </a:r>
            <a:endParaRPr sz="1200" b="0" dirty="0">
              <a:solidFill>
                <a:srgbClr val="5B62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85107-BCAB-49BA-9E19-A5F9EC773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6" y="241069"/>
            <a:ext cx="11335386" cy="642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4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B7F7D3-D580-4E21-BCA5-97F5A1028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" y="200782"/>
            <a:ext cx="11770821" cy="64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8A13D-2F2C-4382-A501-BDCB800DD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5" y="244684"/>
            <a:ext cx="11257843" cy="617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8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9E299D-14F5-4FD7-AFE7-D3EE57AF1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06" y="174567"/>
            <a:ext cx="11779134" cy="646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4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E54D03-D7F6-4C16-AFF4-75554F38A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7" y="141316"/>
            <a:ext cx="11820698" cy="659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5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163A4C-BD31-47CF-AE7D-04EE6E8A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2" y="157942"/>
            <a:ext cx="11941157" cy="654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3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9C07-240F-4759-B935-53832410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ADA11-6952-423B-A01F-0877AF2B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8A20F-9255-478D-B0C6-605B0452F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79" y="354063"/>
            <a:ext cx="10859441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5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F7074"/>
                </a:solidFill>
                <a:latin typeface="Aptos"/>
              </a:rPr>
              <a:t>CONCLUSION &amp;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4548"/>
                </a:solidFill>
                <a:latin typeface="Aptos"/>
              </a:rPr>
              <a:t>From pollution measurement to actionable monitoring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83080"/>
            <a:ext cx="2194560" cy="54864"/>
          </a:xfrm>
          <a:prstGeom prst="rect">
            <a:avLst/>
          </a:prstGeom>
          <a:solidFill>
            <a:srgbClr val="56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2148840"/>
            <a:ext cx="475488" cy="475488"/>
          </a:xfrm>
          <a:prstGeom prst="ellipse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396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548"/>
                </a:solidFill>
                <a:latin typeface="Aptos"/>
              </a:rPr>
              <a:t>Hotspots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30552"/>
            <a:ext cx="83210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260"/>
                </a:solidFill>
                <a:latin typeface="Aptos"/>
              </a:rPr>
              <a:t>Geographic analysis identifies where pollution intensity is concentrated and highlights priority areas for closer assessment.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63240"/>
            <a:ext cx="475488" cy="475488"/>
          </a:xfrm>
          <a:prstGeom prst="ellipse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0540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548"/>
                </a:solidFill>
                <a:latin typeface="Aptos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44952"/>
            <a:ext cx="83210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260"/>
                </a:solidFill>
                <a:latin typeface="Aptos"/>
              </a:rPr>
              <a:t>Multi-pollutant analysis reveals how PM2.5 and other pollutants vary across states, locations and monitoring conditions.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77639"/>
            <a:ext cx="475488" cy="475488"/>
          </a:xfrm>
          <a:prstGeom prst="ellipse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069079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9684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548"/>
                </a:solidFill>
                <a:latin typeface="Aptos"/>
              </a:rP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959352"/>
            <a:ext cx="83210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260"/>
                </a:solidFill>
                <a:latin typeface="Aptos"/>
              </a:rPr>
              <a:t>Observation volume, pollutant availability and monitoring coverage provide a view of the monitoring network's operational readiness.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892040"/>
            <a:ext cx="475488" cy="475488"/>
          </a:xfrm>
          <a:prstGeom prst="ellipse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983479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882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548"/>
                </a:solidFill>
                <a:latin typeface="Aptos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4764" y="4873752"/>
            <a:ext cx="8416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B6260"/>
                </a:solidFill>
                <a:latin typeface="Aptos"/>
              </a:rPr>
              <a:t>Comparing pollution intensity with monitoring coverage helps identify areas where further investigation of monitoring deployment may be warranted.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833872"/>
            <a:ext cx="10698480" cy="621792"/>
          </a:xfrm>
          <a:prstGeom prst="roundRect">
            <a:avLst/>
          </a:prstGeom>
          <a:solidFill>
            <a:srgbClr val="DD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9893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F4548"/>
                </a:solidFill>
                <a:latin typeface="Aptos"/>
              </a:rPr>
              <a:t>Overall takeaway: WHERE pollution occurs → HOW severe it is → HOW the monitoring network performs → WHERE resources are deployed.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159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Rushikesh Shirwalkar</dc:creator>
  <cp:lastModifiedBy>Rushikesh Shirwalkar</cp:lastModifiedBy>
  <cp:revision>4</cp:revision>
  <dcterms:created xsi:type="dcterms:W3CDTF">2026-08-25T13:37:08Z</dcterms:created>
  <dcterms:modified xsi:type="dcterms:W3CDTF">2026-08-25T14:24:40Z</dcterms:modified>
</cp:coreProperties>
</file>